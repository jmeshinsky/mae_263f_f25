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
      <p:font typeface="Merriweather"/>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regular.fntdata"/><Relationship Id="rId10" Type="http://schemas.openxmlformats.org/officeDocument/2006/relationships/slide" Target="slides/slide5.xml"/><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erriweather-regular.fntdata"/><Relationship Id="rId14" Type="http://schemas.openxmlformats.org/officeDocument/2006/relationships/font" Target="fonts/Roboto-boldItalic.fntdata"/><Relationship Id="rId17" Type="http://schemas.openxmlformats.org/officeDocument/2006/relationships/font" Target="fonts/Merriweather-italic.fntdata"/><Relationship Id="rId16" Type="http://schemas.openxmlformats.org/officeDocument/2006/relationships/font" Target="fonts/Merriweather-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Merriweather-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725f10ae3002fbc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725f10ae3002fbc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a0016b6c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a0016b6c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a57bf90392f46be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a57bf90392f46b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2c0ffe59b9b2b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2c0ffe59b9b2b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www.youtube.com/watch?v=LTYMWadOW7c" TargetMode="External"/><Relationship Id="rId4" Type="http://schemas.openxmlformats.org/officeDocument/2006/relationships/image" Target="../media/image2.jpg"/><Relationship Id="rId5" Type="http://schemas.openxmlformats.org/officeDocument/2006/relationships/image" Target="../media/image5.png"/><Relationship Id="rId6" Type="http://schemas.openxmlformats.org/officeDocument/2006/relationships/hyperlink" Target="http://drive.google.com/file/d/1P2WKIqffj6dz4yhbrJ5xv6dWFM9DkMQc/view" TargetMode="External"/><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hyperlink" Target="http://www.youtube.com/watch?v=zlSaIPJ3fTk" TargetMode="External"/><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Auxetic</a:t>
            </a:r>
            <a:r>
              <a:rPr lang="en"/>
              <a:t> Structures:</a:t>
            </a:r>
            <a:endParaRPr/>
          </a:p>
          <a:p>
            <a:pPr indent="0" lvl="0" marL="0" rtl="0" algn="l">
              <a:spcBef>
                <a:spcPts val="0"/>
              </a:spcBef>
              <a:spcAft>
                <a:spcPts val="0"/>
              </a:spcAft>
              <a:buNone/>
            </a:pPr>
            <a:r>
              <a:rPr lang="en"/>
              <a:t>Shock Absorption and Zero-Stiffness</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MAE 263F</a:t>
            </a:r>
            <a:endParaRPr/>
          </a:p>
          <a:p>
            <a:pPr indent="0" lvl="0" marL="0" rtl="0" algn="l">
              <a:spcBef>
                <a:spcPts val="0"/>
              </a:spcBef>
              <a:spcAft>
                <a:spcPts val="0"/>
              </a:spcAft>
              <a:buNone/>
            </a:pPr>
            <a:r>
              <a:rPr lang="en"/>
              <a:t>John Meshinsky and Beom Jun Kim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Motivation</a:t>
            </a:r>
            <a:endParaRPr/>
          </a:p>
        </p:txBody>
      </p:sp>
      <p:sp>
        <p:nvSpPr>
          <p:cNvPr id="71" name="Google Shape;71;p14"/>
          <p:cNvSpPr txBox="1"/>
          <p:nvPr>
            <p:ph idx="1" type="body"/>
          </p:nvPr>
        </p:nvSpPr>
        <p:spPr>
          <a:xfrm>
            <a:off x="311725" y="1413100"/>
            <a:ext cx="3999900" cy="3076200"/>
          </a:xfrm>
          <a:prstGeom prst="rect">
            <a:avLst/>
          </a:prstGeom>
        </p:spPr>
        <p:txBody>
          <a:bodyPr anchorCtr="0" anchor="t" bIns="91425" lIns="91425" spcFirstLastPara="1" rIns="91425" wrap="square" tIns="91425">
            <a:normAutofit/>
          </a:bodyPr>
          <a:lstStyle/>
          <a:p>
            <a:pPr indent="-311150" lvl="0" marL="457200" marR="0" rtl="0" algn="l">
              <a:lnSpc>
                <a:spcPct val="115000"/>
              </a:lnSpc>
              <a:spcBef>
                <a:spcPts val="0"/>
              </a:spcBef>
              <a:spcAft>
                <a:spcPts val="0"/>
              </a:spcAft>
              <a:buSzPts val="1300"/>
              <a:buChar char="●"/>
            </a:pPr>
            <a:r>
              <a:rPr lang="en"/>
              <a:t>Need for “robotic skin” to ensure environmental and human safety</a:t>
            </a:r>
            <a:endParaRPr/>
          </a:p>
          <a:p>
            <a:pPr indent="-311150" lvl="0" marL="457200" marR="0" rtl="0" algn="l">
              <a:lnSpc>
                <a:spcPct val="115000"/>
              </a:lnSpc>
              <a:spcBef>
                <a:spcPts val="0"/>
              </a:spcBef>
              <a:spcAft>
                <a:spcPts val="0"/>
              </a:spcAft>
              <a:buSzPts val="1300"/>
              <a:buChar char="●"/>
            </a:pPr>
            <a:r>
              <a:rPr lang="en"/>
              <a:t>Testing of “quasi zero-stiffness” robotic skin</a:t>
            </a:r>
            <a:endParaRPr/>
          </a:p>
        </p:txBody>
      </p:sp>
      <p:pic>
        <p:nvPicPr>
          <p:cNvPr descr="NEO is a safe humanoid robot that does your chores and offers personalized assistance. Order now: https://1x.tech/neo&#10;&#10;Connect with 1X:&#10;Website: https://1x.tech&#10;X: https://x.com/1x_tech&#10;LinkedIn: https://www.linkedin.com/company/1x-technologies/&#10;Instagram: https://www.instagram.com/1x.technologies/" id="72" name="Google Shape;72;p14" title="NEO The Home Robot | Order Today">
            <a:hlinkClick r:id="rId3"/>
          </p:cNvPr>
          <p:cNvPicPr preferRelativeResize="0"/>
          <p:nvPr/>
        </p:nvPicPr>
        <p:blipFill>
          <a:blip r:embed="rId4">
            <a:alphaModFix/>
          </a:blip>
          <a:stretch>
            <a:fillRect/>
          </a:stretch>
        </p:blipFill>
        <p:spPr>
          <a:xfrm>
            <a:off x="4780350" y="403675"/>
            <a:ext cx="3854375" cy="2168075"/>
          </a:xfrm>
          <a:prstGeom prst="rect">
            <a:avLst/>
          </a:prstGeom>
          <a:noFill/>
          <a:ln>
            <a:noFill/>
          </a:ln>
        </p:spPr>
      </p:pic>
      <p:pic>
        <p:nvPicPr>
          <p:cNvPr id="73" name="Google Shape;73;p14" title="스크린샷 2025-11-03 오후 12.39.46.png"/>
          <p:cNvPicPr preferRelativeResize="0"/>
          <p:nvPr/>
        </p:nvPicPr>
        <p:blipFill>
          <a:blip r:embed="rId5">
            <a:alphaModFix/>
          </a:blip>
          <a:stretch>
            <a:fillRect/>
          </a:stretch>
        </p:blipFill>
        <p:spPr>
          <a:xfrm>
            <a:off x="4780350" y="2654700"/>
            <a:ext cx="3854375" cy="2233685"/>
          </a:xfrm>
          <a:prstGeom prst="rect">
            <a:avLst/>
          </a:prstGeom>
          <a:noFill/>
          <a:ln>
            <a:noFill/>
          </a:ln>
        </p:spPr>
      </p:pic>
      <p:pic>
        <p:nvPicPr>
          <p:cNvPr id="74" name="Google Shape;74;p14" title="IMG_2105.MOV">
            <a:hlinkClick r:id="rId6"/>
          </p:cNvPr>
          <p:cNvPicPr preferRelativeResize="0"/>
          <p:nvPr/>
        </p:nvPicPr>
        <p:blipFill>
          <a:blip r:embed="rId7">
            <a:alphaModFix/>
          </a:blip>
          <a:stretch>
            <a:fillRect/>
          </a:stretch>
        </p:blipFill>
        <p:spPr>
          <a:xfrm>
            <a:off x="798675" y="2422975"/>
            <a:ext cx="3287200" cy="246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Goal</a:t>
            </a:r>
            <a:endParaRPr/>
          </a:p>
        </p:txBody>
      </p:sp>
      <p:sp>
        <p:nvSpPr>
          <p:cNvPr id="80" name="Google Shape;80;p1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Testing different Auxetic lattices under uniform load to measure the </a:t>
            </a:r>
            <a:r>
              <a:rPr lang="en"/>
              <a:t>Poisson</a:t>
            </a:r>
            <a:r>
              <a:rPr lang="en"/>
              <a:t> ratio of the different lattices </a:t>
            </a:r>
            <a:endParaRPr/>
          </a:p>
          <a:p>
            <a:pPr indent="-311150" lvl="0" marL="457200" rtl="0" algn="l">
              <a:spcBef>
                <a:spcPts val="0"/>
              </a:spcBef>
              <a:spcAft>
                <a:spcPts val="0"/>
              </a:spcAft>
              <a:buSzPts val="1300"/>
              <a:buChar char="●"/>
            </a:pPr>
            <a:r>
              <a:rPr lang="en"/>
              <a:t>Measurements to observe are compression/displacement, and energy absorption, stiffness(elasticity)</a:t>
            </a:r>
            <a:endParaRPr/>
          </a:p>
          <a:p>
            <a:pPr indent="-311150" lvl="0" marL="457200" rtl="0" algn="l">
              <a:spcBef>
                <a:spcPts val="0"/>
              </a:spcBef>
              <a:spcAft>
                <a:spcPts val="0"/>
              </a:spcAft>
              <a:buSzPts val="1300"/>
              <a:buChar char="●"/>
            </a:pPr>
            <a:r>
              <a:rPr lang="en"/>
              <a:t>Tested using a lattice of elastic beams with the properties of TPU</a:t>
            </a:r>
            <a:endParaRPr/>
          </a:p>
          <a:p>
            <a:pPr indent="-311150" lvl="0" marL="457200" rtl="0" algn="l">
              <a:spcBef>
                <a:spcPts val="0"/>
              </a:spcBef>
              <a:spcAft>
                <a:spcPts val="0"/>
              </a:spcAft>
              <a:buSzPts val="1300"/>
              <a:buChar char="●"/>
            </a:pPr>
            <a:r>
              <a:rPr lang="en"/>
              <a:t>Plan to expand to 3-dimensional structure lattice</a:t>
            </a:r>
            <a:endParaRPr/>
          </a:p>
        </p:txBody>
      </p:sp>
      <p:pic>
        <p:nvPicPr>
          <p:cNvPr id="81" name="Google Shape;81;p15"/>
          <p:cNvPicPr preferRelativeResize="0"/>
          <p:nvPr/>
        </p:nvPicPr>
        <p:blipFill>
          <a:blip r:embed="rId3">
            <a:alphaModFix/>
          </a:blip>
          <a:stretch>
            <a:fillRect/>
          </a:stretch>
        </p:blipFill>
        <p:spPr>
          <a:xfrm>
            <a:off x="4664725" y="233349"/>
            <a:ext cx="3999898" cy="2338405"/>
          </a:xfrm>
          <a:prstGeom prst="rect">
            <a:avLst/>
          </a:prstGeom>
          <a:noFill/>
          <a:ln>
            <a:noFill/>
          </a:ln>
        </p:spPr>
      </p:pic>
      <p:pic>
        <p:nvPicPr>
          <p:cNvPr descr="MBL 549E Special Topics in Architectural Design Computing: Material-based Computational Design in Architecture | 2020-2021 Fall&#10;Course Instructor: Assoc. Prof. Dr. Sevil Yazıcı&#10;&#10;Auxetic Metamaterials&#10;Nijat Mahamaliyev, Alperen Temur, Doğukan Şamdancı&#10;&#10;The research discusses ‘MetaMaterial’ as a well-organized structure that can perform unexpected reactions (behaviors under load) to actions (forces, loads). At the beginning of the experimentation, several auxetic structures (such as tesseract, vintiles, honeycomb-1, cross, and octet) were examined by using a plug-in for Grasshopper, Interlattice. The plug-in has been used for producing cubes which are based on the principle of arraying determined cell type in the cartesian system. After the examination, to further analyze their behavior under load, selected modules were printed in the size of 3 cm x 3 cm x 3 cm with both PLA and TPU filaments. As a result, cubes, have been produced from interlattice’s cell types. Under the three levels of loads, the behavior of each structure has been analyzed. The three loads were: 337g cement-filled glass bottle, 883g plaster filled bottle &amp;amp; 1900g oil bottle. At the first stage, due to its rigidity, PLA modules were used. However, PLA modules did not show the expected deformations. They either broke or did not change their shapes. Due to their shape-memory capability modules which are printed with the TPU filament were selected. Because of their structural orders, various reactions/responses of the modules as buckling, enhancing, controlled shrinking &amp;amp; more were analyzed with physical experiments under the determined loads. The experiments had been recorded with precision and the records have been shared.&#10;&#10;https://mbl.itu.edu.tr/mbl-549-2020-2021-auxetic-metamaterials/" id="82" name="Google Shape;82;p15" title="Auxetic Metamaterials">
            <a:hlinkClick r:id="rId4"/>
          </p:cNvPr>
          <p:cNvPicPr preferRelativeResize="0"/>
          <p:nvPr/>
        </p:nvPicPr>
        <p:blipFill>
          <a:blip r:embed="rId5">
            <a:alphaModFix/>
          </a:blip>
          <a:stretch>
            <a:fillRect/>
          </a:stretch>
        </p:blipFill>
        <p:spPr>
          <a:xfrm>
            <a:off x="4664725" y="2685649"/>
            <a:ext cx="3999900" cy="22499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11725" y="500925"/>
            <a:ext cx="3639600" cy="14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Simulation</a:t>
            </a:r>
            <a:endParaRPr/>
          </a:p>
        </p:txBody>
      </p:sp>
      <p:sp>
        <p:nvSpPr>
          <p:cNvPr id="88" name="Google Shape;88;p16"/>
          <p:cNvSpPr txBox="1"/>
          <p:nvPr>
            <p:ph idx="1" type="body"/>
          </p:nvPr>
        </p:nvSpPr>
        <p:spPr>
          <a:xfrm>
            <a:off x="4644675" y="1426350"/>
            <a:ext cx="4166400" cy="3173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Design of a beam-spring network using the the tested lattices</a:t>
            </a:r>
            <a:endParaRPr/>
          </a:p>
          <a:p>
            <a:pPr indent="-311150" lvl="0" marL="457200" rtl="0" algn="l">
              <a:spcBef>
                <a:spcPts val="0"/>
              </a:spcBef>
              <a:spcAft>
                <a:spcPts val="0"/>
              </a:spcAft>
              <a:buSzPts val="1300"/>
              <a:buChar char="●"/>
            </a:pPr>
            <a:r>
              <a:rPr lang="en"/>
              <a:t>Applying uniform loads/forces on the edges of the lattice to see deformation and testing passion’s ratio</a:t>
            </a:r>
            <a:endParaRPr/>
          </a:p>
          <a:p>
            <a:pPr indent="-311150" lvl="0" marL="457200" rtl="0" algn="l">
              <a:spcBef>
                <a:spcPts val="0"/>
              </a:spcBef>
              <a:spcAft>
                <a:spcPts val="0"/>
              </a:spcAft>
              <a:buSzPts val="1300"/>
              <a:buChar char="●"/>
            </a:pPr>
            <a:r>
              <a:rPr lang="en"/>
              <a:t>Releasing forces to see the “zero-stiffness” quality of the lattice - returning to its original shape</a:t>
            </a:r>
            <a:endParaRPr/>
          </a:p>
        </p:txBody>
      </p:sp>
      <p:pic>
        <p:nvPicPr>
          <p:cNvPr id="89" name="Google Shape;89;p16"/>
          <p:cNvPicPr preferRelativeResize="0"/>
          <p:nvPr/>
        </p:nvPicPr>
        <p:blipFill rotWithShape="1">
          <a:blip r:embed="rId3">
            <a:alphaModFix/>
          </a:blip>
          <a:srcRect b="70716" l="57218" r="368" t="0"/>
          <a:stretch/>
        </p:blipFill>
        <p:spPr>
          <a:xfrm>
            <a:off x="10" y="1094870"/>
            <a:ext cx="4331597" cy="1919725"/>
          </a:xfrm>
          <a:prstGeom prst="rect">
            <a:avLst/>
          </a:prstGeom>
          <a:noFill/>
          <a:ln>
            <a:noFill/>
          </a:ln>
        </p:spPr>
      </p:pic>
      <p:sp>
        <p:nvSpPr>
          <p:cNvPr id="90" name="Google Shape;90;p16"/>
          <p:cNvSpPr/>
          <p:nvPr/>
        </p:nvSpPr>
        <p:spPr>
          <a:xfrm>
            <a:off x="1225876" y="1588251"/>
            <a:ext cx="454800" cy="393300"/>
          </a:xfrm>
          <a:prstGeom prst="ellipse">
            <a:avLst/>
          </a:prstGeom>
          <a:noFill/>
          <a:ln cap="flat" cmpd="sng" w="476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91" name="Google Shape;91;p16"/>
          <p:cNvPicPr preferRelativeResize="0"/>
          <p:nvPr/>
        </p:nvPicPr>
        <p:blipFill rotWithShape="1">
          <a:blip r:embed="rId3">
            <a:alphaModFix/>
          </a:blip>
          <a:srcRect b="92563" l="69502" r="26118" t="12551"/>
          <a:stretch/>
        </p:blipFill>
        <p:spPr>
          <a:xfrm flipH="1" rot="10800000">
            <a:off x="1291426" y="3126372"/>
            <a:ext cx="2364449" cy="1773303"/>
          </a:xfrm>
          <a:prstGeom prst="rect">
            <a:avLst/>
          </a:prstGeom>
          <a:noFill/>
          <a:ln>
            <a:noFill/>
          </a:ln>
        </p:spPr>
      </p:pic>
      <p:sp>
        <p:nvSpPr>
          <p:cNvPr id="92" name="Google Shape;92;p16"/>
          <p:cNvSpPr/>
          <p:nvPr/>
        </p:nvSpPr>
        <p:spPr>
          <a:xfrm>
            <a:off x="2219275" y="3527300"/>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 name="Google Shape;93;p16"/>
          <p:cNvSpPr/>
          <p:nvPr/>
        </p:nvSpPr>
        <p:spPr>
          <a:xfrm>
            <a:off x="1785719" y="3737525"/>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6"/>
          <p:cNvSpPr/>
          <p:nvPr/>
        </p:nvSpPr>
        <p:spPr>
          <a:xfrm>
            <a:off x="1352163" y="4005574"/>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6"/>
          <p:cNvSpPr/>
          <p:nvPr/>
        </p:nvSpPr>
        <p:spPr>
          <a:xfrm>
            <a:off x="2695750" y="3737525"/>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 name="Google Shape;96;p16"/>
          <p:cNvSpPr/>
          <p:nvPr/>
        </p:nvSpPr>
        <p:spPr>
          <a:xfrm>
            <a:off x="3215200" y="4005575"/>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 name="Google Shape;97;p16"/>
          <p:cNvSpPr/>
          <p:nvPr/>
        </p:nvSpPr>
        <p:spPr>
          <a:xfrm>
            <a:off x="2240738" y="4005575"/>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6"/>
          <p:cNvSpPr/>
          <p:nvPr/>
        </p:nvSpPr>
        <p:spPr>
          <a:xfrm>
            <a:off x="2219275" y="4483850"/>
            <a:ext cx="390600" cy="393300"/>
          </a:xfrm>
          <a:prstGeom prst="ellipse">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9" name="Google Shape;99;p16"/>
          <p:cNvSpPr/>
          <p:nvPr/>
        </p:nvSpPr>
        <p:spPr>
          <a:xfrm rot="-7192617">
            <a:off x="1256017" y="2497337"/>
            <a:ext cx="1323727" cy="117325"/>
          </a:xfrm>
          <a:prstGeom prst="rightArrow">
            <a:avLst>
              <a:gd fmla="val 100000" name="adj1"/>
              <a:gd fmla="val 50000" name="adj2"/>
            </a:avLst>
          </a:prstGeom>
          <a:solidFill>
            <a:srgbClr val="CC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0" name="Google Shape;100;p16"/>
          <p:cNvSpPr/>
          <p:nvPr/>
        </p:nvSpPr>
        <p:spPr>
          <a:xfrm>
            <a:off x="1291434" y="3126366"/>
            <a:ext cx="2364600" cy="1773300"/>
          </a:xfrm>
          <a:prstGeom prst="rect">
            <a:avLst/>
          </a:prstGeom>
          <a:noFill/>
          <a:ln cap="flat" cmpd="sng" w="5715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id="105" name="Google Shape;105;p17"/>
          <p:cNvPicPr preferRelativeResize="0"/>
          <p:nvPr/>
        </p:nvPicPr>
        <p:blipFill rotWithShape="1">
          <a:blip r:embed="rId3">
            <a:alphaModFix/>
          </a:blip>
          <a:srcRect b="71644" l="0" r="65573" t="-928"/>
          <a:stretch/>
        </p:blipFill>
        <p:spPr>
          <a:xfrm>
            <a:off x="857400" y="552475"/>
            <a:ext cx="3434901" cy="1875457"/>
          </a:xfrm>
          <a:prstGeom prst="rect">
            <a:avLst/>
          </a:prstGeom>
          <a:noFill/>
          <a:ln>
            <a:noFill/>
          </a:ln>
        </p:spPr>
      </p:pic>
      <p:pic>
        <p:nvPicPr>
          <p:cNvPr id="106" name="Google Shape;106;p17"/>
          <p:cNvPicPr preferRelativeResize="0"/>
          <p:nvPr/>
        </p:nvPicPr>
        <p:blipFill rotWithShape="1">
          <a:blip r:embed="rId3">
            <a:alphaModFix/>
          </a:blip>
          <a:srcRect b="70716" l="57218" r="368" t="0"/>
          <a:stretch/>
        </p:blipFill>
        <p:spPr>
          <a:xfrm>
            <a:off x="4485525" y="495225"/>
            <a:ext cx="4490117" cy="1989951"/>
          </a:xfrm>
          <a:prstGeom prst="rect">
            <a:avLst/>
          </a:prstGeom>
          <a:noFill/>
          <a:ln>
            <a:noFill/>
          </a:ln>
        </p:spPr>
      </p:pic>
      <p:pic>
        <p:nvPicPr>
          <p:cNvPr id="107" name="Google Shape;107;p17"/>
          <p:cNvPicPr preferRelativeResize="0"/>
          <p:nvPr/>
        </p:nvPicPr>
        <p:blipFill rotWithShape="1">
          <a:blip r:embed="rId3">
            <a:alphaModFix/>
          </a:blip>
          <a:srcRect b="38387" l="48170" r="3309" t="28771"/>
          <a:stretch/>
        </p:blipFill>
        <p:spPr>
          <a:xfrm>
            <a:off x="534875" y="2728725"/>
            <a:ext cx="4173176" cy="1813079"/>
          </a:xfrm>
          <a:prstGeom prst="rect">
            <a:avLst/>
          </a:prstGeom>
          <a:noFill/>
          <a:ln>
            <a:noFill/>
          </a:ln>
        </p:spPr>
      </p:pic>
      <p:pic>
        <p:nvPicPr>
          <p:cNvPr id="108" name="Google Shape;108;p17"/>
          <p:cNvPicPr preferRelativeResize="0"/>
          <p:nvPr/>
        </p:nvPicPr>
        <p:blipFill>
          <a:blip r:embed="rId4">
            <a:alphaModFix/>
          </a:blip>
          <a:stretch>
            <a:fillRect/>
          </a:stretch>
        </p:blipFill>
        <p:spPr>
          <a:xfrm>
            <a:off x="5441614" y="2485176"/>
            <a:ext cx="2231489" cy="23535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